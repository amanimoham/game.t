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1F2748"/>
          </a:solidFill>
          <a:ln/>
        </p:spPr>
      </p:sp>
      <p:sp>
        <p:nvSpPr>
          <p:cNvPr id="3" name="Text 1"/>
          <p:cNvSpPr/>
          <p:nvPr/>
        </p:nvSpPr>
        <p:spPr>
          <a:xfrm>
            <a:off x="5394960" y="1371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🛡️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54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محاربة المغريات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لعبة تعليمية تفاعلية لرفع الوعي الادخاري لدى الأطفال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الطفل يفتح مكافأته الرقمية بمحاربة المغريات وتعلّم تأجيل المكافأة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C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هاكاثون  •  نموذج أولي يعمل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71907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FFC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بعمر 7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24871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تتشكّل العادات المالية للطفل (دراسة كامبريدج)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55448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15968" y="171907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453128" y="24871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مفتوحة عن ادخار الأطفال الصغار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01000" y="155448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01000" y="171907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138160" y="24871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مشكلة edtech: التحفيز والاحتفاظ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10881360" cy="2468880"/>
          </a:xfrm>
          <a:prstGeom prst="roundRect">
            <a:avLst>
              <a:gd name="adj" fmla="val 4444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611880"/>
            <a:ext cx="10332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الأطفال لا يملكون أداة ممتعة تعلّمهم الادخار وتأجيل المكافأة.</a:t>
            </a:r>
            <a:endParaRPr lang="en-US" sz="160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التطبيقات التعليمية مملّة — الطفل يتركها بسرعة، والأب لا يرى أثراً.</a:t>
            </a:r>
            <a:endParaRPr lang="en-US" sz="160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توجد بيانات مفتوحة تقيس سلوك ادخار الأطفال = فجوة سوقية وفرصة أصل بيانات خاص.</a:t>
            </a:r>
            <a:endParaRPr lang="en-US" sz="160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النتيجة: جيل ينشأ دون مهارات مالية أساسية.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23060" y="2103120"/>
            <a:ext cx="640080" cy="640080"/>
          </a:xfrm>
          <a:prstGeom prst="ellipse">
            <a:avLst/>
          </a:prstGeom>
          <a:solidFill>
            <a:srgbClr val="FF7A3C"/>
          </a:solidFill>
          <a:ln/>
        </p:spPr>
      </p:sp>
      <p:sp>
        <p:nvSpPr>
          <p:cNvPr id="5" name="Text 3"/>
          <p:cNvSpPr/>
          <p:nvPr/>
        </p:nvSpPr>
        <p:spPr>
          <a:xfrm>
            <a:off x="16230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يطلب الطفل مكافأة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مثل 500 Robux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56432" y="182880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39412" y="2103120"/>
            <a:ext cx="640080" cy="640080"/>
          </a:xfrm>
          <a:prstGeom prst="ellipse">
            <a:avLst/>
          </a:prstGeom>
          <a:solidFill>
            <a:srgbClr val="FF7A3C"/>
          </a:solidFill>
          <a:ln/>
        </p:spPr>
      </p:sp>
      <p:sp>
        <p:nvSpPr>
          <p:cNvPr id="10" name="Text 8"/>
          <p:cNvSpPr/>
          <p:nvPr/>
        </p:nvSpPr>
        <p:spPr>
          <a:xfrm>
            <a:off x="4439412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93592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يشتريها الأب وتُقفل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93592" y="35661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محفوظة داخل النظام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2784" y="182880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255764" y="2103120"/>
            <a:ext cx="640080" cy="640080"/>
          </a:xfrm>
          <a:prstGeom prst="ellipse">
            <a:avLst/>
          </a:prstGeom>
          <a:solidFill>
            <a:srgbClr val="FF7A3C"/>
          </a:solidFill>
          <a:ln/>
        </p:spPr>
      </p:sp>
      <p:sp>
        <p:nvSpPr>
          <p:cNvPr id="15" name="Text 13"/>
          <p:cNvSpPr/>
          <p:nvPr/>
        </p:nvSpPr>
        <p:spPr>
          <a:xfrm>
            <a:off x="7255764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09944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يحارب المغريات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9944" y="35661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قرارات مالية سليمة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89136" y="182880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072116" y="2103120"/>
            <a:ext cx="640080" cy="640080"/>
          </a:xfrm>
          <a:prstGeom prst="ellipse">
            <a:avLst/>
          </a:prstGeom>
          <a:solidFill>
            <a:srgbClr val="FF7A3C"/>
          </a:solidFill>
          <a:ln/>
        </p:spPr>
      </p:sp>
      <p:sp>
        <p:nvSpPr>
          <p:cNvPr id="20" name="Text 18"/>
          <p:cNvSpPr/>
          <p:nvPr/>
        </p:nvSpPr>
        <p:spPr>
          <a:xfrm>
            <a:off x="10072116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226296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يفتح المكافأة تدريجياً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26296" y="35661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تعلّم بالممارسة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التعلّم بالممارسة: انتظار المكافأة نفسه يصبح لعبة تُدرّب تأجيل المكافأة.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الفكرة المطوّرة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652760" y="1783080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5" name="Text 3"/>
          <p:cNvSpPr/>
          <p:nvPr/>
        </p:nvSpPr>
        <p:spPr>
          <a:xfrm>
            <a:off x="106527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17556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خزنة الكنز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212848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تأطير القفل كمغامرة لا كعقوبة — الطفل يحرّر كنزه من الوحوش.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24912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652760" y="2953512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10" name="Text 8"/>
          <p:cNvSpPr/>
          <p:nvPr/>
        </p:nvSpPr>
        <p:spPr>
          <a:xfrm>
            <a:off x="10652760" y="2953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🎮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14400" y="29260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متعة أولاً + فتح تدريجي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اللعبة ممتعة بذاتها، والمكافأة تُفتح على دفعات (33% → 67% → 100%).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895344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0652760" y="4123944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15" name="Text 13"/>
          <p:cNvSpPr/>
          <p:nvPr/>
        </p:nvSpPr>
        <p:spPr>
          <a:xfrm>
            <a:off x="10652760" y="4123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40965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تخصيص بالذكاء الاصطناعي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4400" y="455371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اختيار الوحش والصعوبة والرسالة حسب مستوى كل طفل.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065776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652760" y="5294376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20" name="Text 18"/>
          <p:cNvSpPr/>
          <p:nvPr/>
        </p:nvSpPr>
        <p:spPr>
          <a:xfrm>
            <a:off x="10652760" y="5294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4400" y="526694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رؤى للأب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4400" y="5724144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 الصبر وضبط الاندفاع — القيمة التي يدفع الأب مقابلها فعلاً.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مصادر البيانات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7830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FC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PISA 2022 Financial Literacy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OECD — معايرة الصعوبة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3400" y="16002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26280" y="17830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CFPB Well-Being (ضبط النفس)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2628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حكومي — تأجيل المكافأة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6002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0" y="17830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 Online Shoppers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سلوك الشراء والإلحاح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33832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FC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 / Kirby MCQ (خصم زمني)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39776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قيم الإغراء ونقطة اللامبالاة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4340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26280" y="33832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 Wilder / Open Game Data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26280" y="39776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تيليمتري ألعاب أطفال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0" y="33832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CFPB Building Blocks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229600" y="39776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التدرّج العمري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مصدر موثّق برابط رسمي — الأولوية للبيانات المفتوحة (Kaggle, UCI, OECD, CFPB).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البيانات: الاستخدام والتنظيف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17220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35508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C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البيانات المستخدمة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55080" y="228600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درجات الكفاءة المالية (PISA)</a:t>
            </a:r>
            <a:endParaRPr lang="en-US" sz="1450" dirty="0"/>
          </a:p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بنود ضبط النفس والتوجه المستقبلي (CFPB)</a:t>
            </a:r>
            <a:endParaRPr lang="en-US" sz="1450" dirty="0"/>
          </a:p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أنماط الشراء والإلحاح (UCI)</a:t>
            </a:r>
            <a:endParaRPr lang="en-US" sz="1450" dirty="0"/>
          </a:p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منحنيات الخصم الزمني (ITC/MCQ)</a:t>
            </a:r>
            <a:endParaRPr lang="en-US" sz="1450" dirty="0"/>
          </a:p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تيليمتري اللعبة (بياناتنا الخاصة)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التنظيف والتجهيز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فرز التراخيص: نشحن CC BY / Public Domain فقط، وNC للبحث.</a:t>
            </a:r>
            <a:endParaRPr lang="en-US" sz="1450" dirty="0"/>
          </a:p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إزالة أي بيانات تعريف (بلا PII للأطفال).</a:t>
            </a:r>
            <a:endParaRPr lang="en-US" sz="1450" dirty="0"/>
          </a:p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تطبيع القيم وتوحيد المقاييس (0–100).</a:t>
            </a:r>
            <a:endParaRPr lang="en-US" sz="1450" dirty="0"/>
          </a:p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تحويل الأنماط إلى بروفايلات افتراضية للمعايرة.</a:t>
            </a:r>
            <a:endParaRPr lang="en-US" sz="1450" dirty="0"/>
          </a:p>
          <a:p>
            <a:pPr algn="r"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توليد ميزات (features) متوافقة مع نموذج ML لاحقاً.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نستخدم البيانات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120640" y="1828800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5" name="Text 3"/>
          <p:cNvSpPr/>
          <p:nvPr/>
        </p:nvSpPr>
        <p:spPr>
          <a:xfrm>
            <a:off x="51206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18013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معايرة الصعوبة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258568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نطاقات كفاءة PISA تضبط صعوبة المراحل.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0020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652760" y="1828800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10" name="Text 8"/>
          <p:cNvSpPr/>
          <p:nvPr/>
        </p:nvSpPr>
        <p:spPr>
          <a:xfrm>
            <a:off x="106527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👾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18013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نمذجة الإغراءات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46520" y="2258568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سلوك المستهلك يصمّم أنواع الوحوش وشدّتها.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5204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120640" y="3749040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372160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قياس ضبط النفس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4400" y="4178808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بنود CFPB تؤطّر مقاييس الصبر والاندفاع.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5204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652760" y="3749040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20" name="Text 18"/>
          <p:cNvSpPr/>
          <p:nvPr/>
        </p:nvSpPr>
        <p:spPr>
          <a:xfrm>
            <a:off x="1065276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46520" y="372160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أصلنا الدفاعي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46520" y="4178808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تيليمتري اللعبة = بيانات لا يملكها أحد لتدريب الـ AI.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التقنيات المستخدمة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29000" y="16459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2900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2.0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006840" y="16459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0684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Alembic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42316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4231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29000" y="242316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24231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242316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24231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06840" y="242316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24231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20040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200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Refresh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29000" y="320040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200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Argon2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17920" y="320040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3200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006840" y="320040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6840" y="3200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705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68680" y="452628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C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معماريّة: </a:t>
            </a:r>
            <a:pPr algn="r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Monolith قابل للتوسّع  •  </a:t>
            </a:r>
            <a:pPr algn="r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دفتر أستاذ مالي غير قابل للتغيير (escrow)  •  </a:t>
            </a:r>
            <a:pPr algn="r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تيليمتري append-only (event-sourced)  •  </a:t>
            </a:r>
            <a:pPr algn="r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كاستراتيجية قابلة للحقن (rule-engine → ML)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النموذج الأولي (يعمل الآن)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057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دخول الأب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تسجيل آمن (JWT)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6432" y="192024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39312" y="2057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39312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الأب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39312" y="32461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طفل + PIN + قفل مكافأة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2784" y="192024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55664" y="2057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55664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اللعبة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55664" y="32461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خزنة + وحوش + قرارات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89136" y="192024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72016" y="2057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272016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الرؤى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272016" y="32461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 المهارات + توقّع AI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بدون Docker عبر Postgres مدمج + fakeredis — جاهز للعرض المباشر.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النتائج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76479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26/26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253288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 ناجح (يشمل e2e على Postgres حقيقي)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6002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15968" y="176479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300" b="1" dirty="0">
                <a:solidFill>
                  <a:srgbClr val="FFC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33→67→100%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453128" y="253288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 الخزنة تدريجياً (تحقّق حيّ)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01000" y="16002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01000" y="176479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138160" y="253288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endpoints جاهزة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881360" cy="2423160"/>
          </a:xfrm>
          <a:prstGeom prst="roundRect">
            <a:avLst>
              <a:gd name="adj" fmla="val 4528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657600"/>
            <a:ext cx="10424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تدفّق كامل مُتحقّق: تسجيل → طفل → قفل مكافأة → لعب → فتح 500 Robux → لوحة الأب.</a:t>
            </a:r>
            <a:endParaRPr lang="en-US" sz="155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الواجهة تبني في أقل من ثانيتين، وجُرّبت حيّاً في المتصفح.</a:t>
            </a:r>
            <a:endParaRPr lang="en-US" sz="155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 حقيقي اكتشفه الاختبار في المتصفح (تقدّم المكافأة) — وأُصلح وأُثبت.</a:t>
            </a:r>
            <a:endParaRPr lang="en-US" sz="155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منتج قابل للعرض المباشر، لا مجرد شرائح.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(rule-engine → ML)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120640" y="1783080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5" name="Text 3"/>
          <p:cNvSpPr/>
          <p:nvPr/>
        </p:nvSpPr>
        <p:spPr>
          <a:xfrm>
            <a:off x="51206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175564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اختيار الوحش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212848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يستهدف أضعف مهارة لدى الطفل.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55448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652760" y="1783080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10" name="Text 8"/>
          <p:cNvSpPr/>
          <p:nvPr/>
        </p:nvSpPr>
        <p:spPr>
          <a:xfrm>
            <a:off x="106527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175564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تعديل الصعوبة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46520" y="2212848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يبقي النجاح في منطقة النمو (~70–80%).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120640" y="3337560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33101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التشجيع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4400" y="3767328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داعمة لا موبّخة، حسب السياق.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1089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652760" y="3337560"/>
            <a:ext cx="548640" cy="548640"/>
          </a:xfrm>
          <a:prstGeom prst="ellipse">
            <a:avLst/>
          </a:prstGeom>
          <a:solidFill>
            <a:srgbClr val="27305A"/>
          </a:solidFill>
          <a:ln/>
        </p:spPr>
      </p:sp>
      <p:sp>
        <p:nvSpPr>
          <p:cNvPr id="20" name="Text 18"/>
          <p:cNvSpPr/>
          <p:nvPr/>
        </p:nvSpPr>
        <p:spPr>
          <a:xfrm>
            <a:off x="1065276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🔮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46520" y="33101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توقّع الإكمال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46520" y="3767328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احتمال إكمال الرحلة يُعرض للأب.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27305A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48920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C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المسار: نفس الـ features الحيّة ← dataset تدريب (CSV/JSONL مع label الإكمال) ← نموذج ML مستقبلاً بلا إعادة بناء.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المستقبل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10881360" cy="960120"/>
          </a:xfrm>
          <a:prstGeom prst="roundRect">
            <a:avLst>
              <a:gd name="adj" fmla="val 1142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378440" y="1892808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/>
          <p:nvPr/>
        </p:nvSpPr>
        <p:spPr>
          <a:xfrm>
            <a:off x="103784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76479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نماذج ML حقيقية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تحلّ محل قواعد الـ AI باستخدام بياناتنا المتراكمة.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24912"/>
            <a:ext cx="10881360" cy="960120"/>
          </a:xfrm>
          <a:prstGeom prst="roundRect">
            <a:avLst>
              <a:gd name="adj" fmla="val 1142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378440" y="2971800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103784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2843784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دفع وتسليم حقيقي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322783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تكامل Stripe + أكواد Robux.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803904"/>
            <a:ext cx="10881360" cy="960120"/>
          </a:xfrm>
          <a:prstGeom prst="roundRect">
            <a:avLst>
              <a:gd name="adj" fmla="val 1142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0378440" y="4050792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10378440" y="4050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8680" y="3922776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محتوى أوسع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8680" y="430682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وحوش ومراحل ومسارات تعلّم أكثر.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882896"/>
            <a:ext cx="10881360" cy="960120"/>
          </a:xfrm>
          <a:prstGeom prst="roundRect">
            <a:avLst>
              <a:gd name="adj" fmla="val 11429"/>
            </a:avLst>
          </a:prstGeom>
          <a:solidFill>
            <a:srgbClr val="1F2748"/>
          </a:solidFill>
          <a:ln w="12700">
            <a:solidFill>
              <a:srgbClr val="27305A"/>
            </a:solidFill>
            <a:prstDash val="solid"/>
          </a:ln>
          <a:effectLst>
            <a:outerShdw sx="100000" sy="100000" kx="0" ky="0" algn="bl" rotWithShape="0" blurRad="101600" dist="38100" dir="5400000">
              <a:srgbClr val="0A0E2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378440" y="5129784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10378440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8680" y="500176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E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توسّع وإطلاق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68680" y="538581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7AD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نشر على Render لآلاف الأطفال.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FF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محاربة المغريات — نحوّل انتظار المكافأة إلى مهارة تدوم مدى الحياة.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2026-07-17T05:31:19Z</dcterms:created>
  <dcterms:modified xsi:type="dcterms:W3CDTF">2026-07-17T05:31:19Z</dcterms:modified>
</cp:coreProperties>
</file>